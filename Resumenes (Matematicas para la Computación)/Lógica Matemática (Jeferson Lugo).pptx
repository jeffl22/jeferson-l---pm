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96" r:id="rId2"/>
    <p:sldId id="297" r:id="rId3"/>
    <p:sldId id="314" r:id="rId4"/>
    <p:sldId id="298" r:id="rId5"/>
    <p:sldId id="315" r:id="rId6"/>
    <p:sldId id="316" r:id="rId7"/>
    <p:sldId id="317" r:id="rId8"/>
    <p:sldId id="299" r:id="rId9"/>
    <p:sldId id="318" r:id="rId10"/>
    <p:sldId id="310" r:id="rId11"/>
  </p:sldIdLst>
  <p:sldSz cx="9144000" cy="5143500" type="screen16x9"/>
  <p:notesSz cx="6858000" cy="9144000"/>
  <p:embeddedFontLst>
    <p:embeddedFont>
      <p:font typeface="Jost" panose="020B0604020202020204" charset="0"/>
      <p:regular r:id="rId13"/>
      <p:bold r:id="rId14"/>
      <p:italic r:id="rId15"/>
      <p:boldItalic r:id="rId16"/>
    </p:embeddedFont>
    <p:embeddedFont>
      <p:font typeface="Palanquin Dar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D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4CF6D3-9D2E-49CA-BA00-CCD7BD366506}">
  <a:tblStyle styleId="{F24CF6D3-9D2E-49CA-BA00-CCD7BD3665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3ce2af5b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3ce2af5b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248E88A1-3023-C46C-FB5E-270C602A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92B8C11C-9623-2F83-8091-EEAE5FD45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DB993317-4A07-6024-A63E-C06563B69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527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C34EA397-F71A-47ED-5BF2-DA6AA06D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661175F3-BC07-BE42-B236-F5A1FA1C3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42A30B16-56A6-ACF2-DD0E-89FE57CC2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774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DF1A5C55-5D5B-11B5-F2E7-9FBFA583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69BEB633-2E23-C8D7-F70D-622855644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3B3B3A7C-1AEC-621C-FCF7-423FD6ADD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7182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16D6D4C4-A636-D4E6-36A8-006EE455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430A3FD4-CB2E-E5B9-CD31-B8B06D115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6ABD9F08-C7D2-7E13-15BD-D066FEE10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6378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66b18c554a_1_17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66b18c554a_1_17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240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50874A0F-D9C3-C42B-7EA8-25DC39C0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66FB6EDE-9018-7EA5-88AF-8CC84671A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4F225D17-05D4-1501-363C-370FCC730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785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93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1" name="Google Shape;11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1" name="Google Shape;81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2" name="Google Shape;82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85" name="Google Shape;85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28" name="Google Shape;128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1" name="Google Shape;131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2" name="Google Shape;182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83" name="Google Shape;183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188" name="Google Shape;188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189" name="Google Shape;189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190" name="Google Shape;190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192" name="Google Shape;192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193" name="Google Shape;193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95" name="Google Shape;195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196" name="Google Shape;196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28" name="Google Shape;228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29" name="Google Shape;229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35" name="Google Shape;235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40" name="Google Shape;240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63" name="Google Shape;363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64" name="Google Shape;364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67" name="Google Shape;367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69" name="Google Shape;369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3" name="Google Shape;373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74" name="Google Shape;374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380" name="Google Shape;380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381" name="Google Shape;381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2" name="Google Shape;382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3" name="Google Shape;383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84" name="Google Shape;384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385" name="Google Shape;385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6" name="Google Shape;386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87" name="Google Shape;387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388" name="Google Shape;388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9" name="Google Shape;389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393" name="Google Shape;393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396" name="Google Shape;396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397" name="Google Shape;397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9" name="Google Shape;399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0" name="Google Shape;400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1" name="Google Shape;401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2" name="Google Shape;402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03" name="Google Shape;403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2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>
            <a:spLocks noGrp="1"/>
          </p:cNvSpPr>
          <p:nvPr>
            <p:ph type="ctrTitle"/>
          </p:nvPr>
        </p:nvSpPr>
        <p:spPr>
          <a:xfrm>
            <a:off x="2233712" y="2083650"/>
            <a:ext cx="4676571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dirty="0"/>
              <a:t>Lógica Matemática</a:t>
            </a:r>
            <a:endParaRPr dirty="0"/>
          </a:p>
        </p:txBody>
      </p:sp>
      <p:sp>
        <p:nvSpPr>
          <p:cNvPr id="419" name="Google Shape;419;p27"/>
          <p:cNvSpPr txBox="1">
            <a:spLocks noGrp="1"/>
          </p:cNvSpPr>
          <p:nvPr>
            <p:ph type="subTitle" idx="1"/>
          </p:nvPr>
        </p:nvSpPr>
        <p:spPr>
          <a:xfrm>
            <a:off x="2652159" y="2842245"/>
            <a:ext cx="3839676" cy="8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sz="2400" dirty="0"/>
              <a:t>Jeferson Lugo 2022-1202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0" name="Google Shape;420;p27"/>
          <p:cNvGrpSpPr/>
          <p:nvPr/>
        </p:nvGrpSpPr>
        <p:grpSpPr>
          <a:xfrm>
            <a:off x="2400425" y="539488"/>
            <a:ext cx="649050" cy="499675"/>
            <a:chOff x="2601900" y="1240650"/>
            <a:chExt cx="649050" cy="499675"/>
          </a:xfrm>
        </p:grpSpPr>
        <p:sp>
          <p:nvSpPr>
            <p:cNvPr id="421" name="Google Shape;421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3" name="Google Shape;423;p27"/>
          <p:cNvGrpSpPr/>
          <p:nvPr/>
        </p:nvGrpSpPr>
        <p:grpSpPr>
          <a:xfrm>
            <a:off x="7090625" y="862823"/>
            <a:ext cx="761440" cy="610577"/>
            <a:chOff x="7090625" y="862823"/>
            <a:chExt cx="761440" cy="610577"/>
          </a:xfrm>
        </p:grpSpPr>
        <p:sp>
          <p:nvSpPr>
            <p:cNvPr id="424" name="Google Shape;424;p2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7" name="Google Shape;427;p27"/>
          <p:cNvGrpSpPr/>
          <p:nvPr/>
        </p:nvGrpSpPr>
        <p:grpSpPr>
          <a:xfrm rot="7956773">
            <a:off x="6624726" y="4056565"/>
            <a:ext cx="649010" cy="499644"/>
            <a:chOff x="2601900" y="1240650"/>
            <a:chExt cx="649050" cy="499675"/>
          </a:xfrm>
        </p:grpSpPr>
        <p:sp>
          <p:nvSpPr>
            <p:cNvPr id="428" name="Google Shape;428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>
            <a:off x="1563675" y="4221875"/>
            <a:ext cx="620952" cy="613774"/>
            <a:chOff x="7090625" y="939100"/>
            <a:chExt cx="620952" cy="613774"/>
          </a:xfrm>
        </p:grpSpPr>
        <p:sp>
          <p:nvSpPr>
            <p:cNvPr id="431" name="Google Shape;431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3" name="Google Shape;433;p27"/>
          <p:cNvGrpSpPr/>
          <p:nvPr/>
        </p:nvGrpSpPr>
        <p:grpSpPr>
          <a:xfrm>
            <a:off x="443470" y="2304320"/>
            <a:ext cx="831805" cy="682445"/>
            <a:chOff x="2500745" y="1139495"/>
            <a:chExt cx="831805" cy="682445"/>
          </a:xfrm>
        </p:grpSpPr>
        <p:sp>
          <p:nvSpPr>
            <p:cNvPr id="434" name="Google Shape;434;p27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title"/>
          </p:nvPr>
        </p:nvSpPr>
        <p:spPr>
          <a:xfrm>
            <a:off x="722375" y="547399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 Proposiciones</a:t>
            </a:r>
            <a:endParaRPr dirty="0"/>
          </a:p>
        </p:txBody>
      </p:sp>
      <p:sp>
        <p:nvSpPr>
          <p:cNvPr id="442" name="Google Shape;442;p28"/>
          <p:cNvSpPr txBox="1"/>
          <p:nvPr/>
        </p:nvSpPr>
        <p:spPr>
          <a:xfrm>
            <a:off x="717575" y="1172998"/>
            <a:ext cx="77040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¿Qué son las proposiciones?</a:t>
            </a:r>
            <a:endParaRPr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45" name="Google Shape;445;p28"/>
          <p:cNvGrpSpPr/>
          <p:nvPr/>
        </p:nvGrpSpPr>
        <p:grpSpPr>
          <a:xfrm rot="10800000">
            <a:off x="8646416" y="875028"/>
            <a:ext cx="128375" cy="603763"/>
            <a:chOff x="2766991" y="3156303"/>
            <a:chExt cx="128375" cy="603763"/>
          </a:xfrm>
        </p:grpSpPr>
        <p:sp>
          <p:nvSpPr>
            <p:cNvPr id="446" name="Google Shape;446;p2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E6A3CAE-7C3D-BE8B-A504-16AEF3F73AB3}"/>
              </a:ext>
            </a:extLst>
          </p:cNvPr>
          <p:cNvSpPr txBox="1"/>
          <p:nvPr/>
        </p:nvSpPr>
        <p:spPr>
          <a:xfrm>
            <a:off x="267644" y="1746473"/>
            <a:ext cx="52329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sz="16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  <a:p>
            <a:pPr algn="ctr"/>
            <a:r>
              <a:rPr lang="es-ES" sz="16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Una proposición o enunciado es una oración, frase o expresión matemática que puede ser falsa o verdadera, pero no ambas a la vez. La proposición es un elemento fundamental de la lógica matemática.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------------------------------------------------------------------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Cada proposición se indica por medio de una letra minúscula, y luego de los dos puntos se expresa la proposición propiamente dicha.</a:t>
            </a:r>
            <a:endParaRPr lang="es-DO" sz="16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73691FF-BB85-B455-B651-222D67D48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673" y="1242594"/>
            <a:ext cx="3239683" cy="210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C7C2543-D42C-1A85-E694-FB1FAC92467A}"/>
              </a:ext>
            </a:extLst>
          </p:cNvPr>
          <p:cNvSpPr txBox="1"/>
          <p:nvPr/>
        </p:nvSpPr>
        <p:spPr>
          <a:xfrm>
            <a:off x="5169808" y="3471014"/>
            <a:ext cx="37065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p: Estados Unidos es el país territorialmente más extenso del continente americano.</a:t>
            </a:r>
          </a:p>
          <a:p>
            <a:r>
              <a:rPr lang="es-ES" sz="16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        q: 19 + 50 = 31.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B3F4A982-4422-5A9F-66A3-8D743A6D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1CAA1218-43B8-5DB8-F3A0-6FCCFCA58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120" y="594687"/>
            <a:ext cx="7322100" cy="955652"/>
          </a:xfrm>
          <a:prstGeom prst="rect">
            <a:avLst/>
          </a:prstGeom>
        </p:spPr>
      </p:pic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5248DA65-DF8E-2CAB-366D-33A7661CE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Proposiciones Compuestas</a:t>
            </a:r>
            <a:endParaRPr sz="3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4473303-6EA4-F0FE-8CAF-3E55C46B85B9}"/>
              </a:ext>
            </a:extLst>
          </p:cNvPr>
          <p:cNvSpPr txBox="1"/>
          <p:nvPr/>
        </p:nvSpPr>
        <p:spPr>
          <a:xfrm>
            <a:off x="1841126" y="1393187"/>
            <a:ext cx="54617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Existen conectores u operadores lógicos que permiten formar proposiciones “compuestas”. Se dice que una proposición es compuesta cuando está integrada por dos o más proposiciones simples conectadas por medio de operadores lógicos.</a:t>
            </a:r>
            <a:endParaRPr lang="es-DO" sz="24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7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925E0252-F01E-C035-3ACC-FD8E0DDC16A4}"/>
              </a:ext>
            </a:extLst>
          </p:cNvPr>
          <p:cNvSpPr/>
          <p:nvPr/>
        </p:nvSpPr>
        <p:spPr>
          <a:xfrm>
            <a:off x="2294501" y="1016632"/>
            <a:ext cx="2281406" cy="14074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C3B790D-94ED-B02E-773C-EDA85A566E07}"/>
              </a:ext>
            </a:extLst>
          </p:cNvPr>
          <p:cNvSpPr/>
          <p:nvPr/>
        </p:nvSpPr>
        <p:spPr>
          <a:xfrm>
            <a:off x="4578278" y="1012275"/>
            <a:ext cx="2281406" cy="14074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A0205B-1E4D-4B50-561F-F70687445B68}"/>
              </a:ext>
            </a:extLst>
          </p:cNvPr>
          <p:cNvSpPr/>
          <p:nvPr/>
        </p:nvSpPr>
        <p:spPr>
          <a:xfrm>
            <a:off x="6848524" y="1012049"/>
            <a:ext cx="2281406" cy="14074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D4601D2-2E29-8B75-87DA-1052B887A2DA}"/>
              </a:ext>
            </a:extLst>
          </p:cNvPr>
          <p:cNvGrpSpPr/>
          <p:nvPr/>
        </p:nvGrpSpPr>
        <p:grpSpPr>
          <a:xfrm>
            <a:off x="-4808628" y="1012049"/>
            <a:ext cx="18068081" cy="5275132"/>
            <a:chOff x="-4861366" y="1020567"/>
            <a:chExt cx="18068081" cy="5275132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D2482F-EDD5-49B0-7313-3E1FB7FC5585}"/>
                </a:ext>
              </a:extLst>
            </p:cNvPr>
            <p:cNvSpPr/>
            <p:nvPr/>
          </p:nvSpPr>
          <p:spPr>
            <a:xfrm>
              <a:off x="0" y="1020567"/>
              <a:ext cx="2281406" cy="140741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5905A2C-FCCD-3EB2-7F9E-F9322C86FA4F}"/>
                </a:ext>
              </a:extLst>
            </p:cNvPr>
            <p:cNvSpPr/>
            <p:nvPr/>
          </p:nvSpPr>
          <p:spPr>
            <a:xfrm>
              <a:off x="-4861366" y="2070940"/>
              <a:ext cx="18068081" cy="42247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</p:grpSp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DA270334-6D07-3F0A-8440-E32A03D7C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706" y="434094"/>
            <a:ext cx="8692587" cy="955652"/>
          </a:xfrm>
          <a:prstGeom prst="rect">
            <a:avLst/>
          </a:prstGeom>
        </p:spPr>
      </p:pic>
      <p:sp>
        <p:nvSpPr>
          <p:cNvPr id="455" name="Google Shape;455;p29"/>
          <p:cNvSpPr txBox="1">
            <a:spLocks noGrp="1"/>
          </p:cNvSpPr>
          <p:nvPr>
            <p:ph type="title"/>
          </p:nvPr>
        </p:nvSpPr>
        <p:spPr>
          <a:xfrm>
            <a:off x="722400" y="33922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/>
              <a:t>Proposiciones Compuestas</a:t>
            </a:r>
            <a:endParaRPr sz="3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9CAABA-70BE-50A9-E2B2-59619F088A73}"/>
              </a:ext>
            </a:extLst>
          </p:cNvPr>
          <p:cNvSpPr txBox="1"/>
          <p:nvPr/>
        </p:nvSpPr>
        <p:spPr>
          <a:xfrm>
            <a:off x="-142742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Or (o)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D6EF5DC-F012-C247-F8C1-52C7BF8B7F64}"/>
              </a:ext>
            </a:extLst>
          </p:cNvPr>
          <p:cNvSpPr txBox="1"/>
          <p:nvPr/>
        </p:nvSpPr>
        <p:spPr>
          <a:xfrm>
            <a:off x="2082864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And (y)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E78877-2D74-378E-CA94-8CA725D9046C}"/>
              </a:ext>
            </a:extLst>
          </p:cNvPr>
          <p:cNvSpPr txBox="1"/>
          <p:nvPr/>
        </p:nvSpPr>
        <p:spPr>
          <a:xfrm>
            <a:off x="4308470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Not (no)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0C0B3B-F43C-3F1A-CDBA-A72FA6CBD4BF}"/>
              </a:ext>
            </a:extLst>
          </p:cNvPr>
          <p:cNvSpPr txBox="1"/>
          <p:nvPr/>
        </p:nvSpPr>
        <p:spPr>
          <a:xfrm>
            <a:off x="6534077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Xor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E18D8F04-D873-49CE-6DC4-9A72461B289F}"/>
              </a:ext>
            </a:extLst>
          </p:cNvPr>
          <p:cNvSpPr/>
          <p:nvPr/>
        </p:nvSpPr>
        <p:spPr>
          <a:xfrm>
            <a:off x="972273" y="1389746"/>
            <a:ext cx="324092" cy="324000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1DCDA69C-9F5B-6159-F7D0-7B2439D6AFC6}"/>
              </a:ext>
            </a:extLst>
          </p:cNvPr>
          <p:cNvSpPr/>
          <p:nvPr/>
        </p:nvSpPr>
        <p:spPr>
          <a:xfrm>
            <a:off x="1044319" y="1462240"/>
            <a:ext cx="180000" cy="1800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9E17D394-57A3-128C-74DB-B0591AF4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10" y="2600657"/>
            <a:ext cx="3402590" cy="228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830066A3-43EC-AA73-E3EE-1515B7E6FE50}"/>
              </a:ext>
            </a:extLst>
          </p:cNvPr>
          <p:cNvSpPr txBox="1"/>
          <p:nvPr/>
        </p:nvSpPr>
        <p:spPr>
          <a:xfrm>
            <a:off x="1261624" y="2262734"/>
            <a:ext cx="3221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Or (o)</a:t>
            </a:r>
            <a:endParaRPr lang="es-DO" sz="40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89CC96C-118F-44A7-E564-065185D3BF20}"/>
              </a:ext>
            </a:extLst>
          </p:cNvPr>
          <p:cNvSpPr txBox="1"/>
          <p:nvPr/>
        </p:nvSpPr>
        <p:spPr>
          <a:xfrm>
            <a:off x="720308" y="2792451"/>
            <a:ext cx="42987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Con este operador se obtiene un resultado falso cuando las dos proposiciones son falsas.</a:t>
            </a:r>
            <a:endParaRPr lang="es-DO" sz="28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3CFB02D7-93EF-811C-094E-59693DFDB43E}"/>
              </a:ext>
            </a:extLst>
          </p:cNvPr>
          <p:cNvSpPr/>
          <p:nvPr/>
        </p:nvSpPr>
        <p:spPr>
          <a:xfrm>
            <a:off x="3248857" y="1391493"/>
            <a:ext cx="324092" cy="324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67DAE00E-3652-201F-ECB8-626C7131292A}"/>
              </a:ext>
            </a:extLst>
          </p:cNvPr>
          <p:cNvSpPr/>
          <p:nvPr/>
        </p:nvSpPr>
        <p:spPr>
          <a:xfrm>
            <a:off x="3320903" y="1463987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01A7CAC7-D079-A905-BA62-6E4D1093C53B}"/>
              </a:ext>
            </a:extLst>
          </p:cNvPr>
          <p:cNvSpPr/>
          <p:nvPr/>
        </p:nvSpPr>
        <p:spPr>
          <a:xfrm>
            <a:off x="5476938" y="1400274"/>
            <a:ext cx="324092" cy="324000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C3AC39DD-170B-0AB6-100A-A9F23C924E21}"/>
              </a:ext>
            </a:extLst>
          </p:cNvPr>
          <p:cNvSpPr/>
          <p:nvPr/>
        </p:nvSpPr>
        <p:spPr>
          <a:xfrm>
            <a:off x="5548984" y="1472768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FD3B4803-2D09-314D-CFC5-85E39E554C30}"/>
              </a:ext>
            </a:extLst>
          </p:cNvPr>
          <p:cNvSpPr/>
          <p:nvPr/>
        </p:nvSpPr>
        <p:spPr>
          <a:xfrm>
            <a:off x="7697114" y="1396538"/>
            <a:ext cx="324092" cy="324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82CB6D24-1DF3-29ED-774A-6C858D07B88B}"/>
              </a:ext>
            </a:extLst>
          </p:cNvPr>
          <p:cNvSpPr/>
          <p:nvPr/>
        </p:nvSpPr>
        <p:spPr>
          <a:xfrm>
            <a:off x="7769160" y="1469032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D9998A-F174-D9DC-7417-2400B602E252}"/>
              </a:ext>
            </a:extLst>
          </p:cNvPr>
          <p:cNvSpPr txBox="1"/>
          <p:nvPr/>
        </p:nvSpPr>
        <p:spPr>
          <a:xfrm>
            <a:off x="4959317" y="2330257"/>
            <a:ext cx="352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"Hoy iré al gimnasio o saldré a correr."</a:t>
            </a:r>
            <a:endParaRPr lang="es-DO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87B83776-A4A6-941D-1661-0DE40DF9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D3AB7CC6-3CA9-1F59-606D-21C5BF679D55}"/>
              </a:ext>
            </a:extLst>
          </p:cNvPr>
          <p:cNvSpPr/>
          <p:nvPr/>
        </p:nvSpPr>
        <p:spPr>
          <a:xfrm>
            <a:off x="24384" y="1016632"/>
            <a:ext cx="2281406" cy="14074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026375D-D731-48CE-AAD8-6F3583A1084F}"/>
              </a:ext>
            </a:extLst>
          </p:cNvPr>
          <p:cNvSpPr/>
          <p:nvPr/>
        </p:nvSpPr>
        <p:spPr>
          <a:xfrm>
            <a:off x="4578278" y="1012275"/>
            <a:ext cx="2281406" cy="14074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8B382EB-2315-2A5F-ECE4-551E60AFDA52}"/>
              </a:ext>
            </a:extLst>
          </p:cNvPr>
          <p:cNvSpPr/>
          <p:nvPr/>
        </p:nvSpPr>
        <p:spPr>
          <a:xfrm>
            <a:off x="6848524" y="1012049"/>
            <a:ext cx="2281406" cy="14074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5ECCC16B-A90A-6F5F-F49C-7C4BBFE73627}"/>
              </a:ext>
            </a:extLst>
          </p:cNvPr>
          <p:cNvGrpSpPr/>
          <p:nvPr/>
        </p:nvGrpSpPr>
        <p:grpSpPr>
          <a:xfrm>
            <a:off x="-4836982" y="1016632"/>
            <a:ext cx="18068081" cy="5275132"/>
            <a:chOff x="-4836982" y="1016632"/>
            <a:chExt cx="18068081" cy="5275132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6E7C1B60-C4D4-D2DC-2D79-9CC468A9D4AB}"/>
                </a:ext>
              </a:extLst>
            </p:cNvPr>
            <p:cNvSpPr/>
            <p:nvPr/>
          </p:nvSpPr>
          <p:spPr>
            <a:xfrm>
              <a:off x="2294501" y="1016632"/>
              <a:ext cx="2281406" cy="140741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021DF7-E275-D912-37CD-872A27E94892}"/>
                </a:ext>
              </a:extLst>
            </p:cNvPr>
            <p:cNvSpPr/>
            <p:nvPr/>
          </p:nvSpPr>
          <p:spPr>
            <a:xfrm>
              <a:off x="-4836982" y="2067005"/>
              <a:ext cx="18068081" cy="422475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</p:grp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E25C6DCE-C1F9-EDE8-9744-8FBAEE30E460}"/>
              </a:ext>
            </a:extLst>
          </p:cNvPr>
          <p:cNvSpPr/>
          <p:nvPr/>
        </p:nvSpPr>
        <p:spPr>
          <a:xfrm>
            <a:off x="3248857" y="1391493"/>
            <a:ext cx="324092" cy="324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7BB43CBA-73E5-2C6A-8515-6AF71B825EB8}"/>
              </a:ext>
            </a:extLst>
          </p:cNvPr>
          <p:cNvSpPr/>
          <p:nvPr/>
        </p:nvSpPr>
        <p:spPr>
          <a:xfrm>
            <a:off x="3320903" y="1463987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EDC9448-CA8E-5814-ADC8-56F5F9D62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8824"/>
          <a:stretch/>
        </p:blipFill>
        <p:spPr bwMode="auto">
          <a:xfrm>
            <a:off x="5000474" y="2654338"/>
            <a:ext cx="3402590" cy="249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9B2B6297-4E03-3E2D-4174-67CB3F757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706" y="434094"/>
            <a:ext cx="8692587" cy="955652"/>
          </a:xfrm>
          <a:prstGeom prst="rect">
            <a:avLst/>
          </a:prstGeom>
        </p:spPr>
      </p:pic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9B894585-37F8-C3A3-F082-57C2CB6A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33922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/>
              <a:t>Proposiciones Compuestas</a:t>
            </a:r>
            <a:endParaRPr sz="3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00136F9-06EC-7137-B5C8-239C19C8045F}"/>
              </a:ext>
            </a:extLst>
          </p:cNvPr>
          <p:cNvSpPr txBox="1"/>
          <p:nvPr/>
        </p:nvSpPr>
        <p:spPr>
          <a:xfrm>
            <a:off x="-142742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Or (o)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D92577-571E-E4D0-D559-21A6AC00521A}"/>
              </a:ext>
            </a:extLst>
          </p:cNvPr>
          <p:cNvSpPr txBox="1"/>
          <p:nvPr/>
        </p:nvSpPr>
        <p:spPr>
          <a:xfrm>
            <a:off x="2082864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And (y)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36752E-FFFB-6DAE-2FCC-AACCF7A4AD43}"/>
              </a:ext>
            </a:extLst>
          </p:cNvPr>
          <p:cNvSpPr txBox="1"/>
          <p:nvPr/>
        </p:nvSpPr>
        <p:spPr>
          <a:xfrm>
            <a:off x="4308470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Not (no)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37BA2C-E5E0-B26E-7CED-DBD5020D6BA7}"/>
              </a:ext>
            </a:extLst>
          </p:cNvPr>
          <p:cNvSpPr txBox="1"/>
          <p:nvPr/>
        </p:nvSpPr>
        <p:spPr>
          <a:xfrm>
            <a:off x="6534077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Xor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DD9D6700-E34C-05F4-9E1F-16EE88CC49D2}"/>
              </a:ext>
            </a:extLst>
          </p:cNvPr>
          <p:cNvSpPr/>
          <p:nvPr/>
        </p:nvSpPr>
        <p:spPr>
          <a:xfrm>
            <a:off x="972273" y="1389746"/>
            <a:ext cx="324092" cy="324000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BBF639B3-4FCC-76A0-6702-E23A64011FD9}"/>
              </a:ext>
            </a:extLst>
          </p:cNvPr>
          <p:cNvSpPr/>
          <p:nvPr/>
        </p:nvSpPr>
        <p:spPr>
          <a:xfrm>
            <a:off x="1044319" y="1462240"/>
            <a:ext cx="180000" cy="1800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C1C6C8C-83A7-41B8-F3F9-02D40476A326}"/>
              </a:ext>
            </a:extLst>
          </p:cNvPr>
          <p:cNvSpPr txBox="1"/>
          <p:nvPr/>
        </p:nvSpPr>
        <p:spPr>
          <a:xfrm>
            <a:off x="1261624" y="2262734"/>
            <a:ext cx="3221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And (y)</a:t>
            </a:r>
            <a:endParaRPr lang="es-DO" sz="40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414976A-63C7-75C0-264B-AD7AFBB96E92}"/>
              </a:ext>
            </a:extLst>
          </p:cNvPr>
          <p:cNvSpPr txBox="1"/>
          <p:nvPr/>
        </p:nvSpPr>
        <p:spPr>
          <a:xfrm>
            <a:off x="720308" y="2792451"/>
            <a:ext cx="42987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 Se utiliza para conectar dos proposiciones que se deben cumplir para que se pueda obtener un resultado verdadero.</a:t>
            </a:r>
            <a:endParaRPr lang="es-DO" sz="28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6A718BFA-3E11-D4E9-6840-F9C607DE6738}"/>
              </a:ext>
            </a:extLst>
          </p:cNvPr>
          <p:cNvSpPr/>
          <p:nvPr/>
        </p:nvSpPr>
        <p:spPr>
          <a:xfrm>
            <a:off x="5476938" y="1400274"/>
            <a:ext cx="324092" cy="324000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BCF6F2D6-517C-4FB1-B67C-040819629859}"/>
              </a:ext>
            </a:extLst>
          </p:cNvPr>
          <p:cNvSpPr/>
          <p:nvPr/>
        </p:nvSpPr>
        <p:spPr>
          <a:xfrm>
            <a:off x="5548984" y="1472768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C413003F-A982-7A2A-1639-48CAE0E7F5C6}"/>
              </a:ext>
            </a:extLst>
          </p:cNvPr>
          <p:cNvSpPr/>
          <p:nvPr/>
        </p:nvSpPr>
        <p:spPr>
          <a:xfrm>
            <a:off x="7697114" y="1396538"/>
            <a:ext cx="324092" cy="324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5B59214C-0080-A46D-4EE0-B0BB38166C77}"/>
              </a:ext>
            </a:extLst>
          </p:cNvPr>
          <p:cNvSpPr/>
          <p:nvPr/>
        </p:nvSpPr>
        <p:spPr>
          <a:xfrm>
            <a:off x="7769160" y="1469032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42D50C-1856-6BAE-8DDC-7C7EBA5E1208}"/>
              </a:ext>
            </a:extLst>
          </p:cNvPr>
          <p:cNvSpPr txBox="1"/>
          <p:nvPr/>
        </p:nvSpPr>
        <p:spPr>
          <a:xfrm>
            <a:off x="4612839" y="2403641"/>
            <a:ext cx="4177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"Hoy iré al gimnasio y prepararé el desayuno."</a:t>
            </a:r>
            <a:endParaRPr lang="es-DO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72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A7F87786-2AAF-54DD-EA93-7FE612E8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79C0011-F144-7678-B562-38A11E7F6BC0}"/>
              </a:ext>
            </a:extLst>
          </p:cNvPr>
          <p:cNvSpPr/>
          <p:nvPr/>
        </p:nvSpPr>
        <p:spPr>
          <a:xfrm>
            <a:off x="6848524" y="1012049"/>
            <a:ext cx="2281406" cy="14074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FCF80A-B7AF-1221-49EB-44D586D4FC07}"/>
              </a:ext>
            </a:extLst>
          </p:cNvPr>
          <p:cNvSpPr/>
          <p:nvPr/>
        </p:nvSpPr>
        <p:spPr>
          <a:xfrm>
            <a:off x="24384" y="1016632"/>
            <a:ext cx="2281406" cy="14074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48F877C-CFE9-9E99-7BD6-552D0D945EFA}"/>
              </a:ext>
            </a:extLst>
          </p:cNvPr>
          <p:cNvSpPr/>
          <p:nvPr/>
        </p:nvSpPr>
        <p:spPr>
          <a:xfrm>
            <a:off x="2294501" y="1016632"/>
            <a:ext cx="2281406" cy="14074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A35578B-C8C8-B82A-2484-9E5679C27ABF}"/>
              </a:ext>
            </a:extLst>
          </p:cNvPr>
          <p:cNvGrpSpPr/>
          <p:nvPr/>
        </p:nvGrpSpPr>
        <p:grpSpPr>
          <a:xfrm>
            <a:off x="-4836982" y="1012275"/>
            <a:ext cx="18068081" cy="5279489"/>
            <a:chOff x="-4836982" y="1012275"/>
            <a:chExt cx="18068081" cy="5279489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9EA7E24E-00D3-B301-AC73-577441FEA6E7}"/>
                </a:ext>
              </a:extLst>
            </p:cNvPr>
            <p:cNvSpPr/>
            <p:nvPr/>
          </p:nvSpPr>
          <p:spPr>
            <a:xfrm>
              <a:off x="4578278" y="1012275"/>
              <a:ext cx="2281406" cy="140741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0D4444BB-CD9B-C941-594C-1ED46AE44B9D}"/>
                </a:ext>
              </a:extLst>
            </p:cNvPr>
            <p:cNvSpPr/>
            <p:nvPr/>
          </p:nvSpPr>
          <p:spPr>
            <a:xfrm>
              <a:off x="-4836982" y="2067005"/>
              <a:ext cx="18068081" cy="422475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</p:grpSp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21C9F324-D1A8-9FAB-118A-F67590ACC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706" y="434094"/>
            <a:ext cx="8692587" cy="955652"/>
          </a:xfrm>
          <a:prstGeom prst="rect">
            <a:avLst/>
          </a:prstGeom>
        </p:spPr>
      </p:pic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A994D3C9-8EA2-43D6-B143-E42070080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33922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/>
              <a:t>Proposiciones Compuestas</a:t>
            </a:r>
            <a:endParaRPr sz="3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C48956-EAA8-E57C-DD6A-9366E080291D}"/>
              </a:ext>
            </a:extLst>
          </p:cNvPr>
          <p:cNvSpPr txBox="1"/>
          <p:nvPr/>
        </p:nvSpPr>
        <p:spPr>
          <a:xfrm>
            <a:off x="-142742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Or (o)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64B82E-714B-5A5D-727C-50638D5362EE}"/>
              </a:ext>
            </a:extLst>
          </p:cNvPr>
          <p:cNvSpPr txBox="1"/>
          <p:nvPr/>
        </p:nvSpPr>
        <p:spPr>
          <a:xfrm>
            <a:off x="2082864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And (y)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56C597-02FE-67B8-F489-AADBC3E44F3B}"/>
              </a:ext>
            </a:extLst>
          </p:cNvPr>
          <p:cNvSpPr txBox="1"/>
          <p:nvPr/>
        </p:nvSpPr>
        <p:spPr>
          <a:xfrm>
            <a:off x="4308470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Not (no)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BBF240-551A-F657-23F7-750853F6CED0}"/>
              </a:ext>
            </a:extLst>
          </p:cNvPr>
          <p:cNvSpPr txBox="1"/>
          <p:nvPr/>
        </p:nvSpPr>
        <p:spPr>
          <a:xfrm>
            <a:off x="6534077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Xor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B871277E-217E-7CD9-7E91-7EC157469A4C}"/>
              </a:ext>
            </a:extLst>
          </p:cNvPr>
          <p:cNvSpPr/>
          <p:nvPr/>
        </p:nvSpPr>
        <p:spPr>
          <a:xfrm>
            <a:off x="972273" y="1389746"/>
            <a:ext cx="324092" cy="324000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18D8F2BD-1C9C-9F28-E4A2-E0D668A3AF06}"/>
              </a:ext>
            </a:extLst>
          </p:cNvPr>
          <p:cNvSpPr/>
          <p:nvPr/>
        </p:nvSpPr>
        <p:spPr>
          <a:xfrm>
            <a:off x="1044319" y="1462240"/>
            <a:ext cx="180000" cy="1800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31CBA55-A87A-59C0-702A-153BA6159F44}"/>
              </a:ext>
            </a:extLst>
          </p:cNvPr>
          <p:cNvSpPr txBox="1"/>
          <p:nvPr/>
        </p:nvSpPr>
        <p:spPr>
          <a:xfrm>
            <a:off x="1261624" y="2262734"/>
            <a:ext cx="3221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Not (no)</a:t>
            </a:r>
            <a:endParaRPr lang="es-DO" sz="40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F6A89DF-849C-6915-780F-8919741C0C21}"/>
              </a:ext>
            </a:extLst>
          </p:cNvPr>
          <p:cNvSpPr txBox="1"/>
          <p:nvPr/>
        </p:nvSpPr>
        <p:spPr>
          <a:xfrm>
            <a:off x="720308" y="2792451"/>
            <a:ext cx="42987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 El operador lógico not tiene como función negar la proposición. </a:t>
            </a:r>
            <a:endParaRPr lang="es-DO" sz="28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2BB04B7D-E501-B303-C529-4C118AD5400D}"/>
              </a:ext>
            </a:extLst>
          </p:cNvPr>
          <p:cNvSpPr/>
          <p:nvPr/>
        </p:nvSpPr>
        <p:spPr>
          <a:xfrm>
            <a:off x="5476938" y="1400274"/>
            <a:ext cx="324092" cy="324000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127E900C-7E60-D7CA-F427-E2ED0D13E6BD}"/>
              </a:ext>
            </a:extLst>
          </p:cNvPr>
          <p:cNvSpPr/>
          <p:nvPr/>
        </p:nvSpPr>
        <p:spPr>
          <a:xfrm>
            <a:off x="5548984" y="1472768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AD6C313B-1007-B8CF-017A-4409464A167F}"/>
              </a:ext>
            </a:extLst>
          </p:cNvPr>
          <p:cNvSpPr/>
          <p:nvPr/>
        </p:nvSpPr>
        <p:spPr>
          <a:xfrm>
            <a:off x="7697114" y="1396538"/>
            <a:ext cx="324092" cy="324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EA786BD1-14BF-D02F-9411-24E84307A179}"/>
              </a:ext>
            </a:extLst>
          </p:cNvPr>
          <p:cNvSpPr/>
          <p:nvPr/>
        </p:nvSpPr>
        <p:spPr>
          <a:xfrm>
            <a:off x="7769160" y="1469032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8B48D67-DB4E-AE04-9563-65CA6E45C94E}"/>
              </a:ext>
            </a:extLst>
          </p:cNvPr>
          <p:cNvSpPr/>
          <p:nvPr/>
        </p:nvSpPr>
        <p:spPr>
          <a:xfrm>
            <a:off x="3248857" y="1391493"/>
            <a:ext cx="324092" cy="324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A6E4AA0E-233B-6FEB-DB85-952538ABFEBD}"/>
              </a:ext>
            </a:extLst>
          </p:cNvPr>
          <p:cNvSpPr/>
          <p:nvPr/>
        </p:nvSpPr>
        <p:spPr>
          <a:xfrm>
            <a:off x="3320903" y="1463987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20" name="Picture 6">
            <a:extLst>
              <a:ext uri="{FF2B5EF4-FFF2-40B4-BE49-F238E27FC236}">
                <a16:creationId xmlns:a16="http://schemas.microsoft.com/office/drawing/2014/main" id="{D28FDCA3-B8D4-4C14-A454-A30659E5F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912" y="2491957"/>
            <a:ext cx="2862876" cy="231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5849659-6769-4A05-B8D6-3B14967D9B5A}"/>
              </a:ext>
            </a:extLst>
          </p:cNvPr>
          <p:cNvSpPr txBox="1"/>
          <p:nvPr/>
        </p:nvSpPr>
        <p:spPr>
          <a:xfrm>
            <a:off x="5557950" y="2268563"/>
            <a:ext cx="1952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defRPr>
            </a:lvl1pPr>
          </a:lstStyle>
          <a:p>
            <a:pPr algn="ctr"/>
            <a:r>
              <a:rPr lang="es-ES" dirty="0"/>
              <a:t>"Hoy no lloverá."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93994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AEE13C3D-9B6F-0DB7-114E-AC566338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E9FBB116-E2A6-3A3C-7DEB-4FCA6FD00A7F}"/>
              </a:ext>
            </a:extLst>
          </p:cNvPr>
          <p:cNvSpPr/>
          <p:nvPr/>
        </p:nvSpPr>
        <p:spPr>
          <a:xfrm>
            <a:off x="4578278" y="1012275"/>
            <a:ext cx="2281406" cy="14074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50D4F34-EA7C-0C38-4DFE-77C324810FB5}"/>
              </a:ext>
            </a:extLst>
          </p:cNvPr>
          <p:cNvSpPr/>
          <p:nvPr/>
        </p:nvSpPr>
        <p:spPr>
          <a:xfrm>
            <a:off x="2294501" y="1016632"/>
            <a:ext cx="2281406" cy="14074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5926C50-05EE-485D-FD9A-7E77C0872278}"/>
              </a:ext>
            </a:extLst>
          </p:cNvPr>
          <p:cNvSpPr/>
          <p:nvPr/>
        </p:nvSpPr>
        <p:spPr>
          <a:xfrm>
            <a:off x="24384" y="1016632"/>
            <a:ext cx="2281406" cy="14074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3908D8E-C050-6876-1C5F-3481E97CE801}"/>
              </a:ext>
            </a:extLst>
          </p:cNvPr>
          <p:cNvGrpSpPr/>
          <p:nvPr/>
        </p:nvGrpSpPr>
        <p:grpSpPr>
          <a:xfrm>
            <a:off x="-4836982" y="1012049"/>
            <a:ext cx="18068081" cy="5279715"/>
            <a:chOff x="-4836982" y="1012049"/>
            <a:chExt cx="18068081" cy="5279715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8515BED-182C-3A75-EDB5-B0528B985722}"/>
                </a:ext>
              </a:extLst>
            </p:cNvPr>
            <p:cNvSpPr/>
            <p:nvPr/>
          </p:nvSpPr>
          <p:spPr>
            <a:xfrm>
              <a:off x="6848524" y="1012049"/>
              <a:ext cx="2281406" cy="140741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EAD227C-F528-D707-C74A-8F98C83F5DF4}"/>
                </a:ext>
              </a:extLst>
            </p:cNvPr>
            <p:cNvSpPr/>
            <p:nvPr/>
          </p:nvSpPr>
          <p:spPr>
            <a:xfrm>
              <a:off x="-4836982" y="2067005"/>
              <a:ext cx="18068081" cy="422475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</p:grpSp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DA3D64F6-4AB2-3953-50FA-7CD180431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706" y="434094"/>
            <a:ext cx="8692587" cy="955652"/>
          </a:xfrm>
          <a:prstGeom prst="rect">
            <a:avLst/>
          </a:prstGeom>
        </p:spPr>
      </p:pic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8888D3B8-3B6B-A9FA-51E0-CE8733C2A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33922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/>
              <a:t>Proposiciones Compuestas</a:t>
            </a:r>
            <a:endParaRPr sz="3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94E78E-A2C9-D78A-194B-A2BEEAC0D98B}"/>
              </a:ext>
            </a:extLst>
          </p:cNvPr>
          <p:cNvSpPr txBox="1"/>
          <p:nvPr/>
        </p:nvSpPr>
        <p:spPr>
          <a:xfrm>
            <a:off x="-142742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Or (o)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B3751F-CE1F-FFCF-3DB9-B5519A6B4E5E}"/>
              </a:ext>
            </a:extLst>
          </p:cNvPr>
          <p:cNvSpPr txBox="1"/>
          <p:nvPr/>
        </p:nvSpPr>
        <p:spPr>
          <a:xfrm>
            <a:off x="2082864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And (y)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2EF160-92A5-96CA-DE29-A300B000A07B}"/>
              </a:ext>
            </a:extLst>
          </p:cNvPr>
          <p:cNvSpPr txBox="1"/>
          <p:nvPr/>
        </p:nvSpPr>
        <p:spPr>
          <a:xfrm>
            <a:off x="4308470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Not (no)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AA43F0-6AD1-053D-25FC-C065ABB92298}"/>
              </a:ext>
            </a:extLst>
          </p:cNvPr>
          <p:cNvSpPr txBox="1"/>
          <p:nvPr/>
        </p:nvSpPr>
        <p:spPr>
          <a:xfrm>
            <a:off x="6534077" y="1701608"/>
            <a:ext cx="2609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Xor</a:t>
            </a:r>
            <a:endParaRPr lang="es-DO" sz="18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06BCD033-724F-1008-AEE6-8A1F110620B1}"/>
              </a:ext>
            </a:extLst>
          </p:cNvPr>
          <p:cNvSpPr/>
          <p:nvPr/>
        </p:nvSpPr>
        <p:spPr>
          <a:xfrm>
            <a:off x="972273" y="1389746"/>
            <a:ext cx="324092" cy="324000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99A0E182-945E-84DE-FBF2-607A46592DD7}"/>
              </a:ext>
            </a:extLst>
          </p:cNvPr>
          <p:cNvSpPr/>
          <p:nvPr/>
        </p:nvSpPr>
        <p:spPr>
          <a:xfrm>
            <a:off x="1044319" y="1462240"/>
            <a:ext cx="180000" cy="1800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A194D70-2A4E-2A2E-CDCA-5BC316280ADD}"/>
              </a:ext>
            </a:extLst>
          </p:cNvPr>
          <p:cNvSpPr txBox="1"/>
          <p:nvPr/>
        </p:nvSpPr>
        <p:spPr>
          <a:xfrm>
            <a:off x="1261624" y="2262734"/>
            <a:ext cx="3221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6"/>
                </a:solidFill>
                <a:latin typeface="Jost" panose="020B0604020202020204" charset="0"/>
                <a:ea typeface="Jost" panose="020B0604020202020204" charset="0"/>
              </a:rPr>
              <a:t>Xor </a:t>
            </a:r>
            <a:endParaRPr lang="es-DO" sz="4000" b="1" dirty="0">
              <a:solidFill>
                <a:schemeClr val="accent6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7E7517C-2DD9-DD1B-3748-3F38E076CD96}"/>
              </a:ext>
            </a:extLst>
          </p:cNvPr>
          <p:cNvSpPr txBox="1"/>
          <p:nvPr/>
        </p:nvSpPr>
        <p:spPr>
          <a:xfrm>
            <a:off x="457200" y="2792451"/>
            <a:ext cx="4724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 Su resultado es verdadero solamente si una de las proposiciones es cierta. Cuando ambas son verdad el resultado es falso.  </a:t>
            </a:r>
            <a:endParaRPr lang="es-DO" sz="28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757C1C38-C7DE-00FE-EA9C-9873C585EAAE}"/>
              </a:ext>
            </a:extLst>
          </p:cNvPr>
          <p:cNvSpPr/>
          <p:nvPr/>
        </p:nvSpPr>
        <p:spPr>
          <a:xfrm>
            <a:off x="3248857" y="1391493"/>
            <a:ext cx="324092" cy="324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7BF5D1F5-67AD-3E04-2DFE-FA611CEBD88C}"/>
              </a:ext>
            </a:extLst>
          </p:cNvPr>
          <p:cNvSpPr/>
          <p:nvPr/>
        </p:nvSpPr>
        <p:spPr>
          <a:xfrm>
            <a:off x="3320903" y="1463987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AF759DD6-1F34-3243-4B22-F7EE781E6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004" y="2720797"/>
            <a:ext cx="3118777" cy="223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84764F0D-827F-FC86-C656-6E4A9665245D}"/>
              </a:ext>
            </a:extLst>
          </p:cNvPr>
          <p:cNvSpPr/>
          <p:nvPr/>
        </p:nvSpPr>
        <p:spPr>
          <a:xfrm>
            <a:off x="5476938" y="1400274"/>
            <a:ext cx="324092" cy="324000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D4CDF315-75F8-6E9A-D06F-093CF9C195EF}"/>
              </a:ext>
            </a:extLst>
          </p:cNvPr>
          <p:cNvSpPr/>
          <p:nvPr/>
        </p:nvSpPr>
        <p:spPr>
          <a:xfrm>
            <a:off x="5548984" y="1472768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7D0810EB-0FE2-15B7-FE05-F59A1D335096}"/>
              </a:ext>
            </a:extLst>
          </p:cNvPr>
          <p:cNvSpPr/>
          <p:nvPr/>
        </p:nvSpPr>
        <p:spPr>
          <a:xfrm>
            <a:off x="7697114" y="1396538"/>
            <a:ext cx="324092" cy="324000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A4B396D4-A588-04FE-7FF3-62AD56C1B6A1}"/>
              </a:ext>
            </a:extLst>
          </p:cNvPr>
          <p:cNvSpPr/>
          <p:nvPr/>
        </p:nvSpPr>
        <p:spPr>
          <a:xfrm>
            <a:off x="7769160" y="1469032"/>
            <a:ext cx="180000" cy="180000"/>
          </a:xfrm>
          <a:prstGeom prst="flowChartConnector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C5222E-4C98-201A-581A-D0A389BA4E0B}"/>
              </a:ext>
            </a:extLst>
          </p:cNvPr>
          <p:cNvSpPr txBox="1"/>
          <p:nvPr/>
        </p:nvSpPr>
        <p:spPr>
          <a:xfrm>
            <a:off x="5287270" y="2289470"/>
            <a:ext cx="3274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b="1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defRPr>
            </a:lvl1pPr>
          </a:lstStyle>
          <a:p>
            <a:pPr algn="ctr"/>
            <a:r>
              <a:rPr lang="es-ES" dirty="0"/>
              <a:t>"Hoy estudiaré </a:t>
            </a:r>
            <a:r>
              <a:rPr lang="es-ES" b="1" dirty="0"/>
              <a:t>o</a:t>
            </a:r>
            <a:r>
              <a:rPr lang="es-ES" dirty="0"/>
              <a:t> veré una película, pero no ambas."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642645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00CF4A8-71BA-D1E4-52A2-0A22ADE5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9" y="2571750"/>
            <a:ext cx="704948" cy="1609950"/>
          </a:xfrm>
          <a:prstGeom prst="rect">
            <a:avLst/>
          </a:prstGeom>
        </p:spPr>
      </p:pic>
      <p:grpSp>
        <p:nvGrpSpPr>
          <p:cNvPr id="946" name="Google Shape;946;p48"/>
          <p:cNvGrpSpPr/>
          <p:nvPr/>
        </p:nvGrpSpPr>
        <p:grpSpPr>
          <a:xfrm rot="9761855">
            <a:off x="8174980" y="1351046"/>
            <a:ext cx="649017" cy="499650"/>
            <a:chOff x="2601900" y="1240650"/>
            <a:chExt cx="649050" cy="499675"/>
          </a:xfrm>
        </p:grpSpPr>
        <p:sp>
          <p:nvSpPr>
            <p:cNvPr id="947" name="Google Shape;947;p4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949" name="Google Shape;949;p48"/>
          <p:cNvGrpSpPr/>
          <p:nvPr/>
        </p:nvGrpSpPr>
        <p:grpSpPr>
          <a:xfrm>
            <a:off x="260387" y="1650915"/>
            <a:ext cx="620952" cy="613774"/>
            <a:chOff x="7090625" y="939100"/>
            <a:chExt cx="620952" cy="613774"/>
          </a:xfrm>
        </p:grpSpPr>
        <p:sp>
          <p:nvSpPr>
            <p:cNvPr id="950" name="Google Shape;950;p48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4" name="Google Shape;530;p34">
            <a:extLst>
              <a:ext uri="{FF2B5EF4-FFF2-40B4-BE49-F238E27FC236}">
                <a16:creationId xmlns:a16="http://schemas.microsoft.com/office/drawing/2014/main" id="{B8A0C27A-2F54-D5D4-0864-19F4A9F93E6C}"/>
              </a:ext>
            </a:extLst>
          </p:cNvPr>
          <p:cNvSpPr txBox="1">
            <a:spLocks/>
          </p:cNvSpPr>
          <p:nvPr/>
        </p:nvSpPr>
        <p:spPr>
          <a:xfrm>
            <a:off x="986142" y="1572613"/>
            <a:ext cx="3468882" cy="160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indent="0" algn="ctr">
              <a:buFont typeface="Jost"/>
              <a:buNone/>
            </a:pPr>
            <a:r>
              <a:rPr lang="es-ES" sz="1600" dirty="0"/>
              <a:t>Una </a:t>
            </a:r>
            <a:r>
              <a:rPr lang="es-ES" sz="1600" b="1" dirty="0"/>
              <a:t>proposición condicional</a:t>
            </a:r>
            <a:r>
              <a:rPr lang="es-ES" sz="1600" dirty="0"/>
              <a:t> es una afirmación de la forma "Si P, entonces Q", que se denota como P→Q. En este tipo de proposición, </a:t>
            </a:r>
            <a:r>
              <a:rPr lang="es-ES" sz="1600" b="1" dirty="0"/>
              <a:t>P</a:t>
            </a:r>
            <a:r>
              <a:rPr lang="es-ES" sz="1600" dirty="0"/>
              <a:t> se llama el </a:t>
            </a:r>
            <a:r>
              <a:rPr lang="es-ES" sz="1600" b="1" dirty="0"/>
              <a:t>antecedente</a:t>
            </a:r>
            <a:r>
              <a:rPr lang="es-ES" sz="1600" dirty="0"/>
              <a:t> y </a:t>
            </a:r>
            <a:r>
              <a:rPr lang="es-ES" sz="1600" b="1" dirty="0"/>
              <a:t>Q</a:t>
            </a:r>
            <a:r>
              <a:rPr lang="es-ES" sz="1600" dirty="0"/>
              <a:t> se llama el </a:t>
            </a:r>
            <a:r>
              <a:rPr lang="es-ES" sz="1600" b="1" dirty="0"/>
              <a:t>consecuente</a:t>
            </a:r>
            <a:r>
              <a:rPr lang="es-ES" sz="1600" dirty="0"/>
              <a:t>.</a:t>
            </a:r>
          </a:p>
        </p:txBody>
      </p:sp>
      <p:sp>
        <p:nvSpPr>
          <p:cNvPr id="7" name="Google Shape;529;p34">
            <a:extLst>
              <a:ext uri="{FF2B5EF4-FFF2-40B4-BE49-F238E27FC236}">
                <a16:creationId xmlns:a16="http://schemas.microsoft.com/office/drawing/2014/main" id="{F1BA649F-62BC-6BE4-A3E1-0F72F6ABE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5599" y="428784"/>
            <a:ext cx="57128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Proposiciones Condicionales y Bicondicionales 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C599A07-13A9-4790-CD58-5119249CA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9" y="3182563"/>
            <a:ext cx="2387987" cy="1704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530;p34">
            <a:extLst>
              <a:ext uri="{FF2B5EF4-FFF2-40B4-BE49-F238E27FC236}">
                <a16:creationId xmlns:a16="http://schemas.microsoft.com/office/drawing/2014/main" id="{719482EF-07B4-8FB8-84F9-E2641FE5B2B3}"/>
              </a:ext>
            </a:extLst>
          </p:cNvPr>
          <p:cNvSpPr txBox="1">
            <a:spLocks/>
          </p:cNvSpPr>
          <p:nvPr/>
        </p:nvSpPr>
        <p:spPr>
          <a:xfrm>
            <a:off x="4688378" y="1572613"/>
            <a:ext cx="3468882" cy="160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indent="0" algn="ctr">
              <a:buFont typeface="Jost"/>
              <a:buNone/>
            </a:pPr>
            <a:r>
              <a:rPr lang="es-ES" sz="1600" dirty="0"/>
              <a:t>Esto se lee como “p si y sólo si q” en donde la proposición que representa el enunciado (p ´ q) es verdadera si p es verdadera y si y sólo si q también lo es.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4D15CB9-EDA6-1021-E62E-38AC0E2B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825" y="2975815"/>
            <a:ext cx="2191988" cy="155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45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9C22F91A-AD8B-369B-92D5-2974B007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B393649B-65A7-7623-E8D5-A83111700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Demostraciones Formales</a:t>
            </a:r>
            <a:endParaRPr sz="3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64D8EE6-CD93-48AA-1B9D-ED6F535CBA06}"/>
              </a:ext>
            </a:extLst>
          </p:cNvPr>
          <p:cNvSpPr txBox="1"/>
          <p:nvPr/>
        </p:nvSpPr>
        <p:spPr>
          <a:xfrm>
            <a:off x="722401" y="1234120"/>
            <a:ext cx="76991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Generalmente los argumentos lógicos son razonamientos resultantes del enunciado de un problema que es posible representar, usando notación lógica, como una proposición condicional integrada por varias proposiciones simples, siempre y cuando se identifiquen claramente las proposiciones simples y los conectores lógicos que unen dichas proposiciones.</a:t>
            </a:r>
            <a:endParaRPr lang="es-DO" sz="20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29A933A-4F54-C77A-79F1-5283BBEA48E2}"/>
              </a:ext>
            </a:extLst>
          </p:cNvPr>
          <p:cNvSpPr txBox="1"/>
          <p:nvPr/>
        </p:nvSpPr>
        <p:spPr>
          <a:xfrm>
            <a:off x="722401" y="3909380"/>
            <a:ext cx="7699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00B0F0"/>
                </a:solidFill>
                <a:latin typeface="Jost" panose="020B0604020202020204" charset="0"/>
                <a:ea typeface="Jost" panose="020B0604020202020204" charset="0"/>
              </a:rPr>
              <a:t>Método Directo y de Contradicción</a:t>
            </a:r>
            <a:endParaRPr lang="es-DO" sz="2400" b="1" dirty="0">
              <a:solidFill>
                <a:srgbClr val="00B0F0"/>
              </a:solidFill>
              <a:latin typeface="Jost" panose="020B0604020202020204" charset="0"/>
              <a:ea typeface="Jo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15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>
            <a:spLocks noGrp="1"/>
          </p:cNvSpPr>
          <p:nvPr>
            <p:ph type="ctrTitle"/>
          </p:nvPr>
        </p:nvSpPr>
        <p:spPr>
          <a:xfrm>
            <a:off x="1443429" y="1538015"/>
            <a:ext cx="6614653" cy="17835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dirty="0"/>
              <a:t>Gracias por Prestar Atención</a:t>
            </a:r>
            <a:endParaRPr dirty="0"/>
          </a:p>
        </p:txBody>
      </p:sp>
      <p:sp>
        <p:nvSpPr>
          <p:cNvPr id="419" name="Google Shape;419;p27"/>
          <p:cNvSpPr txBox="1">
            <a:spLocks noGrp="1"/>
          </p:cNvSpPr>
          <p:nvPr>
            <p:ph type="subTitle" idx="1"/>
          </p:nvPr>
        </p:nvSpPr>
        <p:spPr>
          <a:xfrm>
            <a:off x="2407312" y="3340369"/>
            <a:ext cx="4329375" cy="104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sz="2800" dirty="0"/>
              <a:t>Jeferson Lugo 2022-1202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0" name="Google Shape;420;p27"/>
          <p:cNvGrpSpPr/>
          <p:nvPr/>
        </p:nvGrpSpPr>
        <p:grpSpPr>
          <a:xfrm>
            <a:off x="2400425" y="539488"/>
            <a:ext cx="649050" cy="499675"/>
            <a:chOff x="2601900" y="1240650"/>
            <a:chExt cx="649050" cy="499675"/>
          </a:xfrm>
        </p:grpSpPr>
        <p:sp>
          <p:nvSpPr>
            <p:cNvPr id="421" name="Google Shape;421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3" name="Google Shape;423;p27"/>
          <p:cNvGrpSpPr/>
          <p:nvPr/>
        </p:nvGrpSpPr>
        <p:grpSpPr>
          <a:xfrm>
            <a:off x="7090625" y="862823"/>
            <a:ext cx="761440" cy="610577"/>
            <a:chOff x="7090625" y="862823"/>
            <a:chExt cx="761440" cy="610577"/>
          </a:xfrm>
        </p:grpSpPr>
        <p:sp>
          <p:nvSpPr>
            <p:cNvPr id="424" name="Google Shape;424;p2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7" name="Google Shape;427;p27"/>
          <p:cNvGrpSpPr/>
          <p:nvPr/>
        </p:nvGrpSpPr>
        <p:grpSpPr>
          <a:xfrm rot="7956773">
            <a:off x="6624726" y="4056565"/>
            <a:ext cx="649010" cy="499644"/>
            <a:chOff x="2601900" y="1240650"/>
            <a:chExt cx="649050" cy="499675"/>
          </a:xfrm>
        </p:grpSpPr>
        <p:sp>
          <p:nvSpPr>
            <p:cNvPr id="428" name="Google Shape;428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>
            <a:off x="1563675" y="4221875"/>
            <a:ext cx="620952" cy="613774"/>
            <a:chOff x="7090625" y="939100"/>
            <a:chExt cx="620952" cy="613774"/>
          </a:xfrm>
        </p:grpSpPr>
        <p:sp>
          <p:nvSpPr>
            <p:cNvPr id="431" name="Google Shape;431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3" name="Google Shape;433;p27"/>
          <p:cNvGrpSpPr/>
          <p:nvPr/>
        </p:nvGrpSpPr>
        <p:grpSpPr>
          <a:xfrm>
            <a:off x="443470" y="2304320"/>
            <a:ext cx="831805" cy="682445"/>
            <a:chOff x="2500745" y="1139495"/>
            <a:chExt cx="831805" cy="682445"/>
          </a:xfrm>
        </p:grpSpPr>
        <p:sp>
          <p:nvSpPr>
            <p:cNvPr id="434" name="Google Shape;434;p27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38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465</Words>
  <Application>Microsoft Office PowerPoint</Application>
  <PresentationFormat>Presentación en pantalla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Jost</vt:lpstr>
      <vt:lpstr>Arial</vt:lpstr>
      <vt:lpstr>Calibri</vt:lpstr>
      <vt:lpstr>Palanquin Dark</vt:lpstr>
      <vt:lpstr>Linic by Slidesgo</vt:lpstr>
      <vt:lpstr>Lógica Matemática</vt:lpstr>
      <vt:lpstr>Las Proposiciones</vt:lpstr>
      <vt:lpstr>Proposiciones Compuestas</vt:lpstr>
      <vt:lpstr>Proposiciones Compuestas</vt:lpstr>
      <vt:lpstr>Proposiciones Compuestas</vt:lpstr>
      <vt:lpstr>Proposiciones Compuestas</vt:lpstr>
      <vt:lpstr>Proposiciones Compuestas</vt:lpstr>
      <vt:lpstr>Proposiciones Condicionales y Bicondicionales </vt:lpstr>
      <vt:lpstr>Demostraciones Formales</vt:lpstr>
      <vt:lpstr>Gracias por Prestar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Energía Minihidraulica</dc:title>
  <dc:creator>Jeff Lugo</dc:creator>
  <cp:lastModifiedBy>Jeferson Lugo</cp:lastModifiedBy>
  <cp:revision>8</cp:revision>
  <dcterms:modified xsi:type="dcterms:W3CDTF">2024-11-28T16:08:03Z</dcterms:modified>
</cp:coreProperties>
</file>