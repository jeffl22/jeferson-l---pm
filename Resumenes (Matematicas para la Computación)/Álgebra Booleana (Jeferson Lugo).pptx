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"/>
  </p:notesMasterIdLst>
  <p:sldIdLst>
    <p:sldId id="296" r:id="rId2"/>
    <p:sldId id="297" r:id="rId3"/>
    <p:sldId id="314" r:id="rId4"/>
    <p:sldId id="299" r:id="rId5"/>
    <p:sldId id="318" r:id="rId6"/>
    <p:sldId id="260" r:id="rId7"/>
    <p:sldId id="310" r:id="rId8"/>
  </p:sldIdLst>
  <p:sldSz cx="9144000" cy="5143500" type="screen16x9"/>
  <p:notesSz cx="6858000" cy="9144000"/>
  <p:embeddedFontLst>
    <p:embeddedFont>
      <p:font typeface="Jost" panose="020B0604020202020204" charset="0"/>
      <p:regular r:id="rId10"/>
      <p:bold r:id="rId11"/>
      <p:italic r:id="rId12"/>
      <p:boldItalic r:id="rId13"/>
    </p:embeddedFont>
    <p:embeddedFont>
      <p:font typeface="Palanquin Dark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D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4CF6D3-9D2E-49CA-BA00-CCD7BD366506}">
  <a:tblStyle styleId="{F24CF6D3-9D2E-49CA-BA00-CCD7BD3665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7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3ce2af5b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3ce2af5b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248E88A1-3023-C46C-FB5E-270C602A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e2af5b70_0_4:notes">
            <a:extLst>
              <a:ext uri="{FF2B5EF4-FFF2-40B4-BE49-F238E27FC236}">
                <a16:creationId xmlns:a16="http://schemas.microsoft.com/office/drawing/2014/main" id="{92B8C11C-9623-2F83-8091-EEAE5FD45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ce2af5b70_0_4:notes">
            <a:extLst>
              <a:ext uri="{FF2B5EF4-FFF2-40B4-BE49-F238E27FC236}">
                <a16:creationId xmlns:a16="http://schemas.microsoft.com/office/drawing/2014/main" id="{DB993317-4A07-6024-A63E-C06563B69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5279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66b18c554a_1_17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66b18c554a_1_17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240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>
          <a:extLst>
            <a:ext uri="{FF2B5EF4-FFF2-40B4-BE49-F238E27FC236}">
              <a16:creationId xmlns:a16="http://schemas.microsoft.com/office/drawing/2014/main" id="{50874A0F-D9C3-C42B-7EA8-25DC39C0B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ce2af5b70_0_4:notes">
            <a:extLst>
              <a:ext uri="{FF2B5EF4-FFF2-40B4-BE49-F238E27FC236}">
                <a16:creationId xmlns:a16="http://schemas.microsoft.com/office/drawing/2014/main" id="{66FB6EDE-9018-7EA5-88AF-8CC84671A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ce2af5b70_0_4:notes">
            <a:extLst>
              <a:ext uri="{FF2B5EF4-FFF2-40B4-BE49-F238E27FC236}">
                <a16:creationId xmlns:a16="http://schemas.microsoft.com/office/drawing/2014/main" id="{4F225D17-05D4-1501-363C-370FCC7303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785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b212f9595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b212f9595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931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0" name="Google Shape;10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1" name="Google Shape;11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3" name="Google Shape;33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4" name="Google Shape;34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43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4" name="Google Shape;44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1" name="Google Shape;81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2" name="Google Shape;82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85" name="Google Shape;85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5" name="Google Shape;125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27" name="Google Shape;127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28" name="Google Shape;128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1" name="Google Shape;131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38" name="Google Shape;138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2" name="Google Shape;182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83" name="Google Shape;183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188" name="Google Shape;188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189" name="Google Shape;189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190" name="Google Shape;190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192" name="Google Shape;192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193" name="Google Shape;193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94" name="Google Shape;194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95" name="Google Shape;195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196" name="Google Shape;196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28" name="Google Shape;228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29" name="Google Shape;229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35" name="Google Shape;235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40" name="Google Shape;240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63" name="Google Shape;363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64" name="Google Shape;364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67" name="Google Shape;367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68" name="Google Shape;368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69" name="Google Shape;369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3" name="Google Shape;373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74" name="Google Shape;374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380" name="Google Shape;380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381" name="Google Shape;381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82" name="Google Shape;382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83" name="Google Shape;383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84" name="Google Shape;384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385" name="Google Shape;385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86" name="Google Shape;386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87" name="Google Shape;387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388" name="Google Shape;388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89" name="Google Shape;389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92" name="Google Shape;392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393" name="Google Shape;393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396" name="Google Shape;396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397" name="Google Shape;397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8" name="Google Shape;398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9" name="Google Shape;399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0" name="Google Shape;400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1" name="Google Shape;401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2" name="Google Shape;402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03" name="Google Shape;403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2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"/>
          <p:cNvSpPr txBox="1">
            <a:spLocks noGrp="1"/>
          </p:cNvSpPr>
          <p:nvPr>
            <p:ph type="ctrTitle"/>
          </p:nvPr>
        </p:nvSpPr>
        <p:spPr>
          <a:xfrm>
            <a:off x="2233712" y="2083650"/>
            <a:ext cx="4676571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DO" dirty="0"/>
              <a:t>Álgebra Booleana</a:t>
            </a:r>
            <a:endParaRPr dirty="0"/>
          </a:p>
        </p:txBody>
      </p:sp>
      <p:sp>
        <p:nvSpPr>
          <p:cNvPr id="419" name="Google Shape;419;p27"/>
          <p:cNvSpPr txBox="1">
            <a:spLocks noGrp="1"/>
          </p:cNvSpPr>
          <p:nvPr>
            <p:ph type="subTitle" idx="1"/>
          </p:nvPr>
        </p:nvSpPr>
        <p:spPr>
          <a:xfrm>
            <a:off x="2652159" y="2842245"/>
            <a:ext cx="3839676" cy="8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DO" sz="2400" dirty="0"/>
              <a:t>Jeferson Lugo 2022-1202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20" name="Google Shape;420;p27"/>
          <p:cNvGrpSpPr/>
          <p:nvPr/>
        </p:nvGrpSpPr>
        <p:grpSpPr>
          <a:xfrm>
            <a:off x="2400425" y="539488"/>
            <a:ext cx="649050" cy="499675"/>
            <a:chOff x="2601900" y="1240650"/>
            <a:chExt cx="649050" cy="499675"/>
          </a:xfrm>
        </p:grpSpPr>
        <p:sp>
          <p:nvSpPr>
            <p:cNvPr id="421" name="Google Shape;421;p27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23" name="Google Shape;423;p27"/>
          <p:cNvGrpSpPr/>
          <p:nvPr/>
        </p:nvGrpSpPr>
        <p:grpSpPr>
          <a:xfrm>
            <a:off x="7090625" y="862823"/>
            <a:ext cx="761440" cy="610577"/>
            <a:chOff x="7090625" y="862823"/>
            <a:chExt cx="761440" cy="610577"/>
          </a:xfrm>
        </p:grpSpPr>
        <p:sp>
          <p:nvSpPr>
            <p:cNvPr id="424" name="Google Shape;424;p2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27" name="Google Shape;427;p27"/>
          <p:cNvGrpSpPr/>
          <p:nvPr/>
        </p:nvGrpSpPr>
        <p:grpSpPr>
          <a:xfrm rot="7956773">
            <a:off x="6624726" y="4056565"/>
            <a:ext cx="649010" cy="499644"/>
            <a:chOff x="2601900" y="1240650"/>
            <a:chExt cx="649050" cy="499675"/>
          </a:xfrm>
        </p:grpSpPr>
        <p:sp>
          <p:nvSpPr>
            <p:cNvPr id="428" name="Google Shape;428;p27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30" name="Google Shape;430;p27"/>
          <p:cNvGrpSpPr/>
          <p:nvPr/>
        </p:nvGrpSpPr>
        <p:grpSpPr>
          <a:xfrm>
            <a:off x="1563675" y="4221875"/>
            <a:ext cx="620952" cy="613774"/>
            <a:chOff x="7090625" y="939100"/>
            <a:chExt cx="620952" cy="613774"/>
          </a:xfrm>
        </p:grpSpPr>
        <p:sp>
          <p:nvSpPr>
            <p:cNvPr id="431" name="Google Shape;431;p2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7465577" y="1306874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33" name="Google Shape;433;p27"/>
          <p:cNvGrpSpPr/>
          <p:nvPr/>
        </p:nvGrpSpPr>
        <p:grpSpPr>
          <a:xfrm>
            <a:off x="443470" y="2304320"/>
            <a:ext cx="831805" cy="682445"/>
            <a:chOff x="2500745" y="1139495"/>
            <a:chExt cx="831805" cy="682445"/>
          </a:xfrm>
        </p:grpSpPr>
        <p:sp>
          <p:nvSpPr>
            <p:cNvPr id="434" name="Google Shape;434;p27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>
            <a:spLocks noGrp="1"/>
          </p:cNvSpPr>
          <p:nvPr>
            <p:ph type="title"/>
          </p:nvPr>
        </p:nvSpPr>
        <p:spPr>
          <a:xfrm>
            <a:off x="722375" y="547399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Expresiones Booleanas</a:t>
            </a:r>
            <a:endParaRPr dirty="0"/>
          </a:p>
        </p:txBody>
      </p:sp>
      <p:grpSp>
        <p:nvGrpSpPr>
          <p:cNvPr id="445" name="Google Shape;445;p28"/>
          <p:cNvGrpSpPr/>
          <p:nvPr/>
        </p:nvGrpSpPr>
        <p:grpSpPr>
          <a:xfrm rot="10800000">
            <a:off x="8646416" y="875028"/>
            <a:ext cx="128375" cy="603763"/>
            <a:chOff x="2766991" y="3156303"/>
            <a:chExt cx="128375" cy="603763"/>
          </a:xfrm>
        </p:grpSpPr>
        <p:sp>
          <p:nvSpPr>
            <p:cNvPr id="446" name="Google Shape;446;p2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BE6A3CAE-7C3D-BE8B-A504-16AEF3F73AB3}"/>
              </a:ext>
            </a:extLst>
          </p:cNvPr>
          <p:cNvSpPr txBox="1"/>
          <p:nvPr/>
        </p:nvSpPr>
        <p:spPr>
          <a:xfrm>
            <a:off x="438531" y="1299487"/>
            <a:ext cx="473417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Las expresiones booleanas son combinaciones de variables booleanas (que pueden ser verdaderas o falsas) usando operadores lógicos como AND (conjunción), OR (disyunción) y NOT (negación). Estas expresiones se utilizan para representar decisiones lógicas y se pueden analizar con tablas de verdad, que muestran todos los posibles resultados.</a:t>
            </a:r>
            <a:endParaRPr lang="es-DO" sz="20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B87E59-5CC0-4362-09B4-673255532687}"/>
              </a:ext>
            </a:extLst>
          </p:cNvPr>
          <p:cNvSpPr txBox="1"/>
          <p:nvPr/>
        </p:nvSpPr>
        <p:spPr>
          <a:xfrm>
            <a:off x="5172704" y="3293044"/>
            <a:ext cx="38196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s-ES" sz="20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Compuestas de literales</a:t>
            </a:r>
          </a:p>
          <a:p>
            <a:pPr marL="457200" indent="-457200">
              <a:buAutoNum type="alphaLcParenR"/>
            </a:pPr>
            <a:r>
              <a:rPr lang="es-ES" sz="20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El valor de estas son 1 o 0</a:t>
            </a:r>
          </a:p>
          <a:p>
            <a:pPr marL="457200" indent="-457200">
              <a:buAutoNum type="alphaLcParenR"/>
            </a:pPr>
            <a:r>
              <a:rPr lang="es-ES" sz="20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También se pueden tener valores</a:t>
            </a:r>
            <a:endParaRPr lang="es-DO" sz="20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F72F7A75-3836-AC6D-3F87-C755FBBAC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111" y="830613"/>
            <a:ext cx="3254897" cy="262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B3F4A982-4422-5A9F-66A3-8D743A6D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 descr="Pincelada">
            <a:extLst>
              <a:ext uri="{FF2B5EF4-FFF2-40B4-BE49-F238E27FC236}">
                <a16:creationId xmlns:a16="http://schemas.microsoft.com/office/drawing/2014/main" id="{1CAA1218-43B8-5DB8-F3A0-6FCCFCA58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400" y="634374"/>
            <a:ext cx="7699199" cy="955652"/>
          </a:xfrm>
          <a:prstGeom prst="rect">
            <a:avLst/>
          </a:prstGeom>
        </p:spPr>
      </p:pic>
      <p:sp>
        <p:nvSpPr>
          <p:cNvPr id="455" name="Google Shape;455;p29">
            <a:extLst>
              <a:ext uri="{FF2B5EF4-FFF2-40B4-BE49-F238E27FC236}">
                <a16:creationId xmlns:a16="http://schemas.microsoft.com/office/drawing/2014/main" id="{5248DA65-DF8E-2CAB-366D-33A7661CE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400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/>
              <a:t>Optimización de Expresiones</a:t>
            </a:r>
            <a:endParaRPr sz="32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4473303-6EA4-F0FE-8CAF-3E55C46B85B9}"/>
              </a:ext>
            </a:extLst>
          </p:cNvPr>
          <p:cNvSpPr txBox="1"/>
          <p:nvPr/>
        </p:nvSpPr>
        <p:spPr>
          <a:xfrm>
            <a:off x="1841126" y="1393187"/>
            <a:ext cx="54617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Jost" panose="020B0604020202020204" charset="0"/>
                <a:ea typeface="Jost" panose="020B0604020202020204" charset="0"/>
              </a:rPr>
              <a:t>Es el proceso de simplificar una expresión booleana sin cambiar su valor de verdad, con el objetivo de hacerla más eficiente, más fácil de entender o más económica en términos de recursos (como el número de puertas lógicas en un circuito digital).</a:t>
            </a:r>
            <a:endParaRPr lang="es-DO" sz="2400" b="1" dirty="0">
              <a:solidFill>
                <a:schemeClr val="bg1"/>
              </a:solidFill>
              <a:latin typeface="Jost" panose="020B0604020202020204" charset="0"/>
              <a:ea typeface="Jos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475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00CF4A8-71BA-D1E4-52A2-0A22ADE54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9" y="2571750"/>
            <a:ext cx="704948" cy="1609950"/>
          </a:xfrm>
          <a:prstGeom prst="rect">
            <a:avLst/>
          </a:prstGeom>
        </p:spPr>
      </p:pic>
      <p:grpSp>
        <p:nvGrpSpPr>
          <p:cNvPr id="946" name="Google Shape;946;p48"/>
          <p:cNvGrpSpPr/>
          <p:nvPr/>
        </p:nvGrpSpPr>
        <p:grpSpPr>
          <a:xfrm rot="9761855">
            <a:off x="8174980" y="1351046"/>
            <a:ext cx="649017" cy="499650"/>
            <a:chOff x="2601900" y="1240650"/>
            <a:chExt cx="649050" cy="499675"/>
          </a:xfrm>
        </p:grpSpPr>
        <p:sp>
          <p:nvSpPr>
            <p:cNvPr id="947" name="Google Shape;947;p4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948" name="Google Shape;948;p4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949" name="Google Shape;949;p48"/>
          <p:cNvGrpSpPr/>
          <p:nvPr/>
        </p:nvGrpSpPr>
        <p:grpSpPr>
          <a:xfrm>
            <a:off x="260387" y="1650915"/>
            <a:ext cx="620952" cy="613774"/>
            <a:chOff x="7090625" y="939100"/>
            <a:chExt cx="620952" cy="613774"/>
          </a:xfrm>
        </p:grpSpPr>
        <p:sp>
          <p:nvSpPr>
            <p:cNvPr id="950" name="Google Shape;950;p48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951" name="Google Shape;951;p48"/>
            <p:cNvSpPr/>
            <p:nvPr/>
          </p:nvSpPr>
          <p:spPr>
            <a:xfrm>
              <a:off x="7465577" y="1306874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4" name="Google Shape;530;p34">
            <a:extLst>
              <a:ext uri="{FF2B5EF4-FFF2-40B4-BE49-F238E27FC236}">
                <a16:creationId xmlns:a16="http://schemas.microsoft.com/office/drawing/2014/main" id="{B8A0C27A-2F54-D5D4-0864-19F4A9F93E6C}"/>
              </a:ext>
            </a:extLst>
          </p:cNvPr>
          <p:cNvSpPr txBox="1">
            <a:spLocks/>
          </p:cNvSpPr>
          <p:nvPr/>
        </p:nvSpPr>
        <p:spPr>
          <a:xfrm>
            <a:off x="1017238" y="1080237"/>
            <a:ext cx="7109521" cy="333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indent="0" algn="ctr">
              <a:buFont typeface="Jost"/>
              <a:buNone/>
            </a:pPr>
            <a:r>
              <a:rPr lang="es-ES" sz="2800" dirty="0"/>
              <a:t>El </a:t>
            </a:r>
            <a:r>
              <a:rPr lang="es-ES" sz="2800" b="1" dirty="0"/>
              <a:t>álgebra de Boole</a:t>
            </a:r>
            <a:r>
              <a:rPr lang="es-ES" sz="2800" dirty="0"/>
              <a:t> es una rama de las matemáticas que trata con valores lógicos, en lugar de números. En lugar de trabajar con valores numéricos como 1, 2 o 3, en álgebra de Boole solo se usan dos valores: </a:t>
            </a:r>
            <a:r>
              <a:rPr lang="es-ES" sz="2800" b="1" dirty="0"/>
              <a:t>verdadero (1)</a:t>
            </a:r>
            <a:r>
              <a:rPr lang="es-ES" sz="2800" dirty="0"/>
              <a:t> y </a:t>
            </a:r>
            <a:r>
              <a:rPr lang="es-ES" sz="2800" b="1" dirty="0"/>
              <a:t>falso (0)</a:t>
            </a:r>
            <a:r>
              <a:rPr lang="es-ES" sz="2800" dirty="0"/>
              <a:t>.</a:t>
            </a:r>
            <a:endParaRPr lang="es-ES" sz="2000" dirty="0"/>
          </a:p>
        </p:txBody>
      </p:sp>
      <p:sp>
        <p:nvSpPr>
          <p:cNvPr id="7" name="Google Shape;529;p34">
            <a:extLst>
              <a:ext uri="{FF2B5EF4-FFF2-40B4-BE49-F238E27FC236}">
                <a16:creationId xmlns:a16="http://schemas.microsoft.com/office/drawing/2014/main" id="{F1BA649F-62BC-6BE4-A3E1-0F72F6ABE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5599" y="428784"/>
            <a:ext cx="571280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Álgebra de Boole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745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>
          <a:extLst>
            <a:ext uri="{FF2B5EF4-FFF2-40B4-BE49-F238E27FC236}">
              <a16:creationId xmlns:a16="http://schemas.microsoft.com/office/drawing/2014/main" id="{9C22F91A-AD8B-369B-92D5-2974B007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9">
            <a:extLst>
              <a:ext uri="{FF2B5EF4-FFF2-40B4-BE49-F238E27FC236}">
                <a16:creationId xmlns:a16="http://schemas.microsoft.com/office/drawing/2014/main" id="{B393649B-65A7-7623-E8D5-A83111700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400" y="57422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/>
              <a:t>Leyes del álgebra de Boole.</a:t>
            </a:r>
            <a:endParaRPr sz="3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F34FB3D-205B-4DCD-2706-DC98B205F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266" y="1319057"/>
            <a:ext cx="5921468" cy="3383696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095151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oogle Shape;482;p31"/>
          <p:cNvGrpSpPr/>
          <p:nvPr/>
        </p:nvGrpSpPr>
        <p:grpSpPr>
          <a:xfrm rot="4360112">
            <a:off x="2024298" y="146721"/>
            <a:ext cx="761442" cy="610579"/>
            <a:chOff x="7090625" y="862823"/>
            <a:chExt cx="761440" cy="610577"/>
          </a:xfrm>
        </p:grpSpPr>
        <p:sp>
          <p:nvSpPr>
            <p:cNvPr id="483" name="Google Shape;483;p31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84" name="Google Shape;484;p31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86" name="Google Shape;486;p31"/>
          <p:cNvGrpSpPr/>
          <p:nvPr/>
        </p:nvGrpSpPr>
        <p:grpSpPr>
          <a:xfrm rot="7956773">
            <a:off x="7872801" y="1748090"/>
            <a:ext cx="649010" cy="499644"/>
            <a:chOff x="2601900" y="1240650"/>
            <a:chExt cx="649050" cy="499675"/>
          </a:xfrm>
        </p:grpSpPr>
        <p:sp>
          <p:nvSpPr>
            <p:cNvPr id="487" name="Google Shape;487;p3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92" name="Google Shape;492;p31"/>
          <p:cNvGrpSpPr/>
          <p:nvPr/>
        </p:nvGrpSpPr>
        <p:grpSpPr>
          <a:xfrm rot="8297734">
            <a:off x="6073754" y="4180296"/>
            <a:ext cx="831820" cy="682457"/>
            <a:chOff x="2500745" y="1139495"/>
            <a:chExt cx="831805" cy="682445"/>
          </a:xfrm>
        </p:grpSpPr>
        <p:sp>
          <p:nvSpPr>
            <p:cNvPr id="493" name="Google Shape;493;p31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479" name="Google Shape;479;p31"/>
          <p:cNvSpPr txBox="1">
            <a:spLocks noGrp="1"/>
          </p:cNvSpPr>
          <p:nvPr>
            <p:ph type="title"/>
          </p:nvPr>
        </p:nvSpPr>
        <p:spPr>
          <a:xfrm>
            <a:off x="1442850" y="474591"/>
            <a:ext cx="6258300" cy="9067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Compuertas Lógicas</a:t>
            </a:r>
            <a:endParaRPr sz="3600" dirty="0"/>
          </a:p>
        </p:txBody>
      </p:sp>
      <p:sp>
        <p:nvSpPr>
          <p:cNvPr id="4" name="Google Shape;530;p34">
            <a:extLst>
              <a:ext uri="{FF2B5EF4-FFF2-40B4-BE49-F238E27FC236}">
                <a16:creationId xmlns:a16="http://schemas.microsoft.com/office/drawing/2014/main" id="{6D5BE1EC-8273-3F69-1721-633FBC19FF27}"/>
              </a:ext>
            </a:extLst>
          </p:cNvPr>
          <p:cNvSpPr txBox="1">
            <a:spLocks/>
          </p:cNvSpPr>
          <p:nvPr/>
        </p:nvSpPr>
        <p:spPr>
          <a:xfrm>
            <a:off x="714507" y="1265593"/>
            <a:ext cx="4011961" cy="1956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 sz="1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indent="0" algn="ctr">
              <a:buFont typeface="Jost"/>
              <a:buNone/>
            </a:pPr>
            <a:r>
              <a:rPr lang="es-ES" sz="2800" dirty="0"/>
              <a:t>Un bloque lógico es una representación simbólica gráfica de una o más variables de entrada a un operador lógico, para obtener una señal determinada o resultado. </a:t>
            </a:r>
            <a:endParaRPr lang="es-ES" sz="20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4FCAEC0-86F2-A75A-282D-F8181F967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333" y="1731578"/>
            <a:ext cx="3700300" cy="251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"/>
          <p:cNvSpPr txBox="1">
            <a:spLocks noGrp="1"/>
          </p:cNvSpPr>
          <p:nvPr>
            <p:ph type="ctrTitle"/>
          </p:nvPr>
        </p:nvSpPr>
        <p:spPr>
          <a:xfrm>
            <a:off x="1443429" y="1538015"/>
            <a:ext cx="6614653" cy="17835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DO" dirty="0"/>
              <a:t>Gracias por Prestar Atención</a:t>
            </a:r>
            <a:endParaRPr dirty="0"/>
          </a:p>
        </p:txBody>
      </p:sp>
      <p:sp>
        <p:nvSpPr>
          <p:cNvPr id="419" name="Google Shape;419;p27"/>
          <p:cNvSpPr txBox="1">
            <a:spLocks noGrp="1"/>
          </p:cNvSpPr>
          <p:nvPr>
            <p:ph type="subTitle" idx="1"/>
          </p:nvPr>
        </p:nvSpPr>
        <p:spPr>
          <a:xfrm>
            <a:off x="2407312" y="3340369"/>
            <a:ext cx="4329375" cy="1041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DO" sz="2800" dirty="0"/>
              <a:t>Jeferson Lugo 2022-1202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20" name="Google Shape;420;p27"/>
          <p:cNvGrpSpPr/>
          <p:nvPr/>
        </p:nvGrpSpPr>
        <p:grpSpPr>
          <a:xfrm>
            <a:off x="2400425" y="539488"/>
            <a:ext cx="649050" cy="499675"/>
            <a:chOff x="2601900" y="1240650"/>
            <a:chExt cx="649050" cy="499675"/>
          </a:xfrm>
        </p:grpSpPr>
        <p:sp>
          <p:nvSpPr>
            <p:cNvPr id="421" name="Google Shape;421;p27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23" name="Google Shape;423;p27"/>
          <p:cNvGrpSpPr/>
          <p:nvPr/>
        </p:nvGrpSpPr>
        <p:grpSpPr>
          <a:xfrm>
            <a:off x="7090625" y="862823"/>
            <a:ext cx="761440" cy="610577"/>
            <a:chOff x="7090625" y="862823"/>
            <a:chExt cx="761440" cy="610577"/>
          </a:xfrm>
        </p:grpSpPr>
        <p:sp>
          <p:nvSpPr>
            <p:cNvPr id="424" name="Google Shape;424;p2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27" name="Google Shape;427;p27"/>
          <p:cNvGrpSpPr/>
          <p:nvPr/>
        </p:nvGrpSpPr>
        <p:grpSpPr>
          <a:xfrm rot="7956773">
            <a:off x="6624726" y="4056565"/>
            <a:ext cx="649010" cy="499644"/>
            <a:chOff x="2601900" y="1240650"/>
            <a:chExt cx="649050" cy="499675"/>
          </a:xfrm>
        </p:grpSpPr>
        <p:sp>
          <p:nvSpPr>
            <p:cNvPr id="428" name="Google Shape;428;p27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30" name="Google Shape;430;p27"/>
          <p:cNvGrpSpPr/>
          <p:nvPr/>
        </p:nvGrpSpPr>
        <p:grpSpPr>
          <a:xfrm>
            <a:off x="1563675" y="4221875"/>
            <a:ext cx="620952" cy="613774"/>
            <a:chOff x="7090625" y="939100"/>
            <a:chExt cx="620952" cy="613774"/>
          </a:xfrm>
        </p:grpSpPr>
        <p:sp>
          <p:nvSpPr>
            <p:cNvPr id="431" name="Google Shape;431;p2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7465577" y="1306874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433" name="Google Shape;433;p27"/>
          <p:cNvGrpSpPr/>
          <p:nvPr/>
        </p:nvGrpSpPr>
        <p:grpSpPr>
          <a:xfrm>
            <a:off x="443470" y="2304320"/>
            <a:ext cx="831805" cy="682445"/>
            <a:chOff x="2500745" y="1139495"/>
            <a:chExt cx="831805" cy="682445"/>
          </a:xfrm>
        </p:grpSpPr>
        <p:sp>
          <p:nvSpPr>
            <p:cNvPr id="434" name="Google Shape;434;p27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038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229</Words>
  <Application>Microsoft Office PowerPoint</Application>
  <PresentationFormat>Presentación en pantalla (16:9)</PresentationFormat>
  <Paragraphs>18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Calibri</vt:lpstr>
      <vt:lpstr>Arial</vt:lpstr>
      <vt:lpstr>Palanquin Dark</vt:lpstr>
      <vt:lpstr>Jost</vt:lpstr>
      <vt:lpstr>Linic by Slidesgo</vt:lpstr>
      <vt:lpstr>Álgebra Booleana</vt:lpstr>
      <vt:lpstr>Expresiones Booleanas</vt:lpstr>
      <vt:lpstr>Optimización de Expresiones</vt:lpstr>
      <vt:lpstr>Álgebra de Boole </vt:lpstr>
      <vt:lpstr>Leyes del álgebra de Boole.</vt:lpstr>
      <vt:lpstr>Compuertas Lógicas</vt:lpstr>
      <vt:lpstr>Gracias por Prestar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Energía Minihidraulica</dc:title>
  <dc:creator>Jeff Lugo</dc:creator>
  <cp:lastModifiedBy>Jeferson Lugo</cp:lastModifiedBy>
  <cp:revision>6</cp:revision>
  <dcterms:modified xsi:type="dcterms:W3CDTF">2024-11-28T03:44:02Z</dcterms:modified>
</cp:coreProperties>
</file>